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C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06863" y="1691640"/>
            <a:ext cx="1371600" cy="45720"/>
          </a:xfrm>
          <a:prstGeom prst="rect">
            <a:avLst/>
          </a:prstGeom>
          <a:solidFill>
            <a:srgbClr val="57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60">
                <a:solidFill>
                  <a:srgbClr val="8FD4E6"/>
                </a:solidFill>
                <a:latin typeface="Segoe UI"/>
                <a:cs typeface="Segoe UI"/>
                <a:ea typeface="Segoe UI"/>
              </a:rPr>
              <a:t>ציר הזמן · over.org.il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10765231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גרסאות לעם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57B6D0"/>
                </a:solidFill>
                <a:latin typeface="Segoe UI"/>
                <a:cs typeface="Segoe UI"/>
                <a:ea typeface="Segoe UI"/>
              </a:rPr>
              <a:t>חצי שנה, פרק אחר פרק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14800"/>
            <a:ext cx="796627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7C2D8"/>
                </a:solidFill>
                <a:latin typeface="Segoe UI"/>
                <a:cs typeface="Segoe UI"/>
                <a:ea typeface="Segoe UI"/>
              </a:rPr>
              <a:t>איך כלי קטן שעקב אחרי שינויים במאגר אחד הפך לתשתית שקיפות שמארכבת עשרות מקורות ממשלתיים, מגישה אותם ב‑SQL, במפות וב‑MCP, ושומרת כל גרסה היסטורית.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0644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60">
                <a:solidFill>
                  <a:srgbClr val="7C89A3"/>
                </a:solidFill>
                <a:latin typeface="Segoe UI"/>
                <a:cs typeface="Segoe UI"/>
                <a:ea typeface="Segoe UI"/>
              </a:rPr>
              <a:t>מרץ–ספטמבר 2026  ·  945 קומיטים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המפה של הסיפור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תשעה פרקים, ממרץ ועד ספטמבר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פרק הוא תקופה שבה משהו אחד השתנה באופן שאי אפשר היה לחזור ממנו. השקופיות הבאות הולכות עליהם לפי הסדר.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4164" y="23042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2340864"/>
            <a:ext cx="50292" cy="1021079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5332" y="24505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A16207"/>
                </a:solidFill>
                <a:latin typeface="Segoe UI"/>
                <a:cs typeface="Segoe UI"/>
                <a:ea typeface="Segoe UI"/>
              </a:rPr>
              <a:t>פרק 01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הלידה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מרץ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23042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704" y="2340864"/>
            <a:ext cx="50292" cy="1021079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9866" y="24505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A16207"/>
                </a:solidFill>
                <a:latin typeface="Segoe UI"/>
                <a:cs typeface="Segoe UI"/>
                <a:ea typeface="Segoe UI"/>
              </a:rPr>
              <a:t>פרק 02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ממכשיר למוצר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אפריל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042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7238" y="2340864"/>
            <a:ext cx="50292" cy="102107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505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פרק 03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מפות ומקורות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מאי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4164" y="35996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28171" y="3636264"/>
            <a:ext cx="50292" cy="1021079"/>
          </a:xfrm>
          <a:prstGeom prst="rect">
            <a:avLst/>
          </a:prstGeom>
          <a:solidFill>
            <a:srgbClr val="526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5332" y="37459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52607A"/>
                </a:solidFill>
                <a:latin typeface="Segoe UI"/>
                <a:cs typeface="Segoe UI"/>
                <a:ea typeface="Segoe UI"/>
              </a:rPr>
              <a:t>פרק 04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אחסון משלנו, וה‑SQL הראשון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יוני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8698" y="35996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704" y="3636264"/>
            <a:ext cx="50292" cy="1021079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9866" y="37459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C2410C"/>
                </a:solidFill>
                <a:latin typeface="Segoe UI"/>
                <a:cs typeface="Segoe UI"/>
                <a:ea typeface="Segoe UI"/>
              </a:rPr>
              <a:t>פרק 05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הפיצוץ: למ"ס, כנסת וחיפוש עמוק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יולי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5996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7238" y="3636264"/>
            <a:ext cx="50292" cy="102107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459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פרק 06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פרויקטים אחים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סוף יולי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4164" y="48950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28171" y="4931664"/>
            <a:ext cx="50292" cy="1021079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5332" y="50413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6D28D9"/>
                </a:solidFill>
                <a:latin typeface="Segoe UI"/>
                <a:cs typeface="Segoe UI"/>
                <a:ea typeface="Segoe UI"/>
              </a:rPr>
              <a:t>פרק 07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ללמד את המאגרים לדבר זה עם זה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תחילת אוגוסט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8698" y="48950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704" y="4931664"/>
            <a:ext cx="50292" cy="102107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9866" y="50413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פרק 08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שאלה אחת, כל המאגרים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אוגוסט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895088"/>
            <a:ext cx="3454298" cy="1094232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7238" y="4931664"/>
            <a:ext cx="50292" cy="1021079"/>
          </a:xfrm>
          <a:prstGeom prst="rect">
            <a:avLst/>
          </a:prstGeom>
          <a:solidFill>
            <a:srgbClr val="B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41392"/>
            <a:ext cx="3051962" cy="819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40">
                <a:solidFill>
                  <a:srgbClr val="B4232C"/>
                </a:solidFill>
                <a:latin typeface="Segoe UI"/>
                <a:cs typeface="Segoe UI"/>
                <a:ea typeface="Segoe UI"/>
              </a:rPr>
              <a:t>פרק 09</a:t>
            </a:r>
          </a:p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בית חדש, וגבולות ברורים</a:t>
            </a:r>
          </a:p>
          <a:p>
            <a:pPr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ספטמבר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פרקים 01–02 · מרץ–אפריל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מכלי אישי למוצר ציבורי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5775" y="1773936"/>
            <a:ext cx="20116" cy="3656075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28655" y="171907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28655" y="173736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18.03</a:t>
            </a:r>
          </a:p>
        </p:txBody>
      </p:sp>
      <p:sp>
        <p:nvSpPr>
          <p:cNvPr id="9" name="Oval 8"/>
          <p:cNvSpPr/>
          <p:nvPr/>
        </p:nvSpPr>
        <p:spPr>
          <a:xfrm>
            <a:off x="10478109" y="1783080"/>
            <a:ext cx="155448" cy="155448"/>
          </a:xfrm>
          <a:prstGeom prst="ellipse">
            <a:avLst/>
          </a:prstGeom>
          <a:solidFill>
            <a:srgbClr val="A16207"/>
          </a:solidFill>
          <a:ln w="2032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השקה ראשונה, עוקב גרסאות למאגרי CKAN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מעקב אחרי שינויים במאגרי CKAN, עם התחברות Google ו‑GitHub.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28655" y="2433828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28655" y="245211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19.03</a:t>
            </a:r>
          </a:p>
        </p:txBody>
      </p:sp>
      <p:sp>
        <p:nvSpPr>
          <p:cNvPr id="13" name="Oval 12"/>
          <p:cNvSpPr/>
          <p:nvPr/>
        </p:nvSpPr>
        <p:spPr>
          <a:xfrm>
            <a:off x="10500969" y="2497836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52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97252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מעבר לעלות אפס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התשתית שתלווה את הפרויקט: שרת אפליקציה ומסד Postgres מנוהל.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28655" y="3148584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8655" y="3166872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11.04</a:t>
            </a:r>
          </a:p>
        </p:txBody>
      </p:sp>
      <p:sp>
        <p:nvSpPr>
          <p:cNvPr id="17" name="Oval 16"/>
          <p:cNvSpPr/>
          <p:nvPr/>
        </p:nvSpPr>
        <p:spPr>
          <a:xfrm>
            <a:off x="10478109" y="3212592"/>
            <a:ext cx="155448" cy="155448"/>
          </a:xfrm>
          <a:prstGeom prst="ellipse">
            <a:avLst/>
          </a:prstGeom>
          <a:solidFill>
            <a:srgbClr val="A16207"/>
          </a:solidFill>
          <a:ln w="2032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12008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מיתוג מחדש: «גרסאות לעם»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עיצוב במשפחת «לעם», אתר ציבורי מול פאנל אדמין, ואסטרטגיה למאגרי ענק.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28655" y="3863339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28655" y="3881628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12.04</a:t>
            </a:r>
          </a:p>
        </p:txBody>
      </p:sp>
      <p:sp>
        <p:nvSpPr>
          <p:cNvPr id="21" name="Oval 20"/>
          <p:cNvSpPr/>
          <p:nvPr/>
        </p:nvSpPr>
        <p:spPr>
          <a:xfrm>
            <a:off x="10478109" y="3927348"/>
            <a:ext cx="155448" cy="155448"/>
          </a:xfrm>
          <a:prstGeom prst="ellipse">
            <a:avLst/>
          </a:prstGeom>
          <a:solidFill>
            <a:srgbClr val="52607A"/>
          </a:solidFill>
          <a:ln w="20320">
            <a:solidFill>
              <a:srgbClr val="52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26764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אינטגרציית ה‑Worker החיצוני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תור משימות ו‑API דחיפה. זה מה שיאפשר לגרד כל אתר, לא רק CKAN.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28655" y="4578095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459638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16.04</a:t>
            </a:r>
          </a:p>
        </p:txBody>
      </p:sp>
      <p:sp>
        <p:nvSpPr>
          <p:cNvPr id="25" name="Oval 24"/>
          <p:cNvSpPr/>
          <p:nvPr/>
        </p:nvSpPr>
        <p:spPr>
          <a:xfrm>
            <a:off x="10478109" y="4642104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541520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האתר הראשון מעבר ל‑data.gov.il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סורק gov.il למאגרי אספנים, עם ניהול תור לגירוד.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28655" y="529285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8655" y="531114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25.04</a:t>
            </a:r>
          </a:p>
        </p:txBody>
      </p:sp>
      <p:sp>
        <p:nvSpPr>
          <p:cNvPr id="29" name="Oval 28"/>
          <p:cNvSpPr/>
          <p:nvPr/>
        </p:nvSpPr>
        <p:spPr>
          <a:xfrm>
            <a:off x="10478109" y="5356860"/>
            <a:ext cx="155448" cy="155448"/>
          </a:xfrm>
          <a:prstGeom prst="ellipse">
            <a:avLst/>
          </a:prstGeom>
          <a:solidFill>
            <a:srgbClr val="A16207"/>
          </a:solidFill>
          <a:ln w="2032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25627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תיוג חוצה‑ארגונים ו‑API ציבורי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תגיות על מאגרים ממשרדים שונים, ולראשונה ממשק קריאה מתועד.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 03 · מאי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הפרויקט יוצא מגבולות הטבלה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החודש שבו נכנס המידע המרחבי, והמפה הפכה לדרך הגשה ולא לנספח.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45775" y="2377440"/>
            <a:ext cx="20116" cy="3030321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28655" y="2322576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28655" y="234086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02.05</a:t>
            </a:r>
          </a:p>
        </p:txBody>
      </p:sp>
      <p:sp>
        <p:nvSpPr>
          <p:cNvPr id="10" name="Oval 9"/>
          <p:cNvSpPr/>
          <p:nvPr/>
        </p:nvSpPr>
        <p:spPr>
          <a:xfrm>
            <a:off x="10478109" y="2386584"/>
            <a:ext cx="155448" cy="15544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86000"/>
            <a:ext cx="9649663" cy="737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מעקב שכבות של GovMap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המקור המרחבי הראשון: גירוד שכבות דרך ה‑Worker, עם חשיפת GeoJSON וכותרות שכבה.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8655" y="305958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28655" y="307787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07.05</a:t>
            </a:r>
          </a:p>
        </p:txBody>
      </p:sp>
      <p:sp>
        <p:nvSpPr>
          <p:cNvPr id="14" name="Oval 13"/>
          <p:cNvSpPr/>
          <p:nvPr/>
        </p:nvSpPr>
        <p:spPr>
          <a:xfrm>
            <a:off x="10500969" y="3123590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52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023006"/>
            <a:ext cx="9649663" cy="737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נעילת גרסת Worker ועיצוב אדמין מחדש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שער שמונע מ‑Worker מיושן לדחוף נתונים.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8655" y="3796588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8655" y="381487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21.05</a:t>
            </a:r>
          </a:p>
        </p:txBody>
      </p:sp>
      <p:sp>
        <p:nvSpPr>
          <p:cNvPr id="18" name="Oval 17"/>
          <p:cNvSpPr/>
          <p:nvPr/>
        </p:nvSpPr>
        <p:spPr>
          <a:xfrm>
            <a:off x="10478109" y="3860596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760012"/>
            <a:ext cx="9649663" cy="737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סורק הפרקליטות הצבאית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סוג סורק חדש לעמודי הפרקליטות, ובהמשך גם פורטל הפקודות.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28655" y="4533595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8655" y="4551883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22.05</a:t>
            </a:r>
          </a:p>
        </p:txBody>
      </p:sp>
      <p:sp>
        <p:nvSpPr>
          <p:cNvPr id="22" name="Oval 21"/>
          <p:cNvSpPr/>
          <p:nvPr/>
        </p:nvSpPr>
        <p:spPr>
          <a:xfrm>
            <a:off x="10478109" y="4597603"/>
            <a:ext cx="155448" cy="15544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497019"/>
            <a:ext cx="9649663" cy="737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מפה אינטראקטיבית בתוך עמוד המאגר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תצוגה חיה עם פילטרים קטגוריאליים, מסך מלא וזרימת נתונים.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28655" y="5270601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5288889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24.05</a:t>
            </a:r>
          </a:p>
        </p:txBody>
      </p:sp>
      <p:sp>
        <p:nvSpPr>
          <p:cNvPr id="26" name="Oval 25"/>
          <p:cNvSpPr/>
          <p:nvPr/>
        </p:nvSpPr>
        <p:spPr>
          <a:xfrm>
            <a:off x="10500969" y="5334609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234025"/>
            <a:ext cx="9649663" cy="737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עמוד הגידולים, הדרים ואבוקדו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תצוגה אוצרת של שכבות גידול על גבי תצלום אוויר, עם פאנל אבחון כיסוי.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 04 · יוני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אחסון משלנו, וה‑SQL הראשון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החודש שבו הארכיטקטורה התבגרה: הקבצים משתחררים מהמקור, נולד מסד ייעודי לטבלאות, ועולים קונסולת SQL ושרת MCP.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45775" y="2377440"/>
            <a:ext cx="20116" cy="3153155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28655" y="2322576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28655" y="234086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09.06</a:t>
            </a:r>
          </a:p>
        </p:txBody>
      </p:sp>
      <p:sp>
        <p:nvSpPr>
          <p:cNvPr id="10" name="Oval 9"/>
          <p:cNvSpPr/>
          <p:nvPr/>
        </p:nvSpPr>
        <p:spPr>
          <a:xfrm>
            <a:off x="10478109" y="2386584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86000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מאגרי בעלי מקצוע של משרד הבריאות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מקור חדש עם צ'יפ ייעודי משלו בקטלוג.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8655" y="2936748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28655" y="295503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23.06</a:t>
            </a:r>
          </a:p>
        </p:txBody>
      </p:sp>
      <p:sp>
        <p:nvSpPr>
          <p:cNvPr id="14" name="Oval 13"/>
          <p:cNvSpPr/>
          <p:nvPr/>
        </p:nvSpPr>
        <p:spPr>
          <a:xfrm>
            <a:off x="10478109" y="3000755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00172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דוחות מבקר המדינה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מאגר לכל סוג דוח, כקורפוס שלם ולא כרשימת קישורים.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8655" y="3550920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8655" y="3569208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24.06</a:t>
            </a:r>
          </a:p>
        </p:txBody>
      </p:sp>
      <p:sp>
        <p:nvSpPr>
          <p:cNvPr id="18" name="Oval 17"/>
          <p:cNvSpPr/>
          <p:nvPr/>
        </p:nvSpPr>
        <p:spPr>
          <a:xfrm>
            <a:off x="10478109" y="3614928"/>
            <a:ext cx="155448" cy="155448"/>
          </a:xfrm>
          <a:prstGeom prst="ellipse">
            <a:avLst/>
          </a:prstGeom>
          <a:solidFill>
            <a:srgbClr val="52607A"/>
          </a:solidFill>
          <a:ln w="20320">
            <a:solidFill>
              <a:srgbClr val="52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14344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אחסון R2, ניתוק הקבצים מהמקור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אחסון אובייקטים עצמאי ויעד אחסון לכל מאגר. באותו יום נוסף גם קטלוג שכבות התחבורה.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28655" y="4165091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8655" y="418338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26.06</a:t>
            </a:r>
          </a:p>
        </p:txBody>
      </p:sp>
      <p:sp>
        <p:nvSpPr>
          <p:cNvPr id="22" name="Oval 21"/>
          <p:cNvSpPr/>
          <p:nvPr/>
        </p:nvSpPr>
        <p:spPr>
          <a:xfrm>
            <a:off x="10478109" y="4229100"/>
            <a:ext cx="155448" cy="155448"/>
          </a:xfrm>
          <a:prstGeom prst="ellipse">
            <a:avLst/>
          </a:prstGeom>
          <a:solidFill>
            <a:srgbClr val="52607A"/>
          </a:solidFill>
          <a:ln w="20320">
            <a:solidFill>
              <a:srgbClr val="52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128516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מסד ייעודי לארכוב מצטבר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משיכות datastore נשמרות בנפרד; רישום טיסות ורכבים; ו‑Worker שמעדכן את עצמו בין משימות.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28655" y="4779263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4797551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28.06</a:t>
            </a:r>
          </a:p>
        </p:txBody>
      </p:sp>
      <p:sp>
        <p:nvSpPr>
          <p:cNvPr id="26" name="Oval 25"/>
          <p:cNvSpPr/>
          <p:nvPr/>
        </p:nvSpPr>
        <p:spPr>
          <a:xfrm>
            <a:off x="10478109" y="4843271"/>
            <a:ext cx="155448" cy="155448"/>
          </a:xfrm>
          <a:prstGeom prst="ellipse">
            <a:avLst/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42688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קונסולת SQL ציבורית מעל הארכיון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ה‑SQL הראשון: שאילתות קריאה בלבד מעל טבלאות הארכיון, עם תקציב לכל כתובת נגד גירוד המוני.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28655" y="5393435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28655" y="5411723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29.06</a:t>
            </a:r>
          </a:p>
        </p:txBody>
      </p:sp>
      <p:sp>
        <p:nvSpPr>
          <p:cNvPr id="30" name="Oval 29"/>
          <p:cNvSpPr/>
          <p:nvPr/>
        </p:nvSpPr>
        <p:spPr>
          <a:xfrm>
            <a:off x="10478109" y="5457443"/>
            <a:ext cx="155448" cy="155448"/>
          </a:xfrm>
          <a:prstGeom prst="ellipse">
            <a:avLst/>
          </a:prstGeom>
          <a:solidFill>
            <a:srgbClr val="1D4ED8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356859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שרת MCP מרוחק, הראשון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הנתונים נחשפים ללקוחות AI דרך הפרוטוקול, בגישה בהזמנה בלבד.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 05 · יולי 2026, חלק ראשון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מקור חדש כמעט מדי כמה ימים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5775" y="1773936"/>
            <a:ext cx="20116" cy="3656075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28655" y="171907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28655" y="173736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01.07</a:t>
            </a:r>
          </a:p>
        </p:txBody>
      </p:sp>
      <p:sp>
        <p:nvSpPr>
          <p:cNvPr id="9" name="Oval 8"/>
          <p:cNvSpPr/>
          <p:nvPr/>
        </p:nvSpPr>
        <p:spPr>
          <a:xfrm>
            <a:off x="10478109" y="1783080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חוזרי מנכ"ל משרד החינוך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קורפוס שלם, מפוצל לאוספים לפי סוג חוזר.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28655" y="2433828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28655" y="245211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04.07</a:t>
            </a:r>
          </a:p>
        </p:txBody>
      </p:sp>
      <p:sp>
        <p:nvSpPr>
          <p:cNvPr id="13" name="Oval 12"/>
          <p:cNvSpPr/>
          <p:nvPr/>
        </p:nvSpPr>
        <p:spPr>
          <a:xfrm>
            <a:off x="10478109" y="2497836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97252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אינדקס התוכן של הלמ"ס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אינדקס בלי הורדת קבצים, שיתפתח לעמוד חיפוש ציבורי.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28655" y="3148584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8655" y="3166872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05.07</a:t>
            </a:r>
          </a:p>
        </p:txBody>
      </p:sp>
      <p:sp>
        <p:nvSpPr>
          <p:cNvPr id="17" name="Oval 16"/>
          <p:cNvSpPr/>
          <p:nvPr/>
        </p:nvSpPr>
        <p:spPr>
          <a:xfrm>
            <a:off x="10500969" y="3212592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12008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העלאות ישירות לאחסון, ופורמטים כבדים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העלאות מרובות‑חלקים, ו‑GPKG ו‑GeoParquet לשכבות ענק.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28655" y="3863339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28655" y="3881628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06.07</a:t>
            </a:r>
          </a:p>
        </p:txBody>
      </p:sp>
      <p:sp>
        <p:nvSpPr>
          <p:cNvPr id="21" name="Oval 20"/>
          <p:cNvSpPr/>
          <p:nvPr/>
        </p:nvSpPr>
        <p:spPr>
          <a:xfrm>
            <a:off x="10478109" y="3927348"/>
            <a:ext cx="155448" cy="155448"/>
          </a:xfrm>
          <a:prstGeom prst="ellipse">
            <a:avLst/>
          </a:prstGeom>
          <a:solidFill>
            <a:srgbClr val="1D4ED8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26764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שרת MCP ללמ"ס, וחיפוש בשפה טבעית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שאלה חופשית שמקבלת תשובה אחת ממוקדת, כולל הבחנה כנה בין «יש» ל«אין».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28655" y="4578095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459638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07.07</a:t>
            </a:r>
          </a:p>
        </p:txBody>
      </p:sp>
      <p:sp>
        <p:nvSpPr>
          <p:cNvPr id="25" name="Oval 24"/>
          <p:cNvSpPr/>
          <p:nvPr/>
        </p:nvSpPr>
        <p:spPr>
          <a:xfrm>
            <a:off x="10478109" y="4642104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541520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מכרזי רשות פיתוח ירושלים וחברת עדן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שני מקורות מכרזים ביום אחד, במודל ארכיון מצטבר.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28655" y="529285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8655" y="531114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10.07</a:t>
            </a:r>
          </a:p>
        </p:txBody>
      </p:sp>
      <p:sp>
        <p:nvSpPr>
          <p:cNvPr id="29" name="Oval 28"/>
          <p:cNvSpPr/>
          <p:nvPr/>
        </p:nvSpPr>
        <p:spPr>
          <a:xfrm>
            <a:off x="10478109" y="5356860"/>
            <a:ext cx="155448" cy="155448"/>
          </a:xfrm>
          <a:prstGeom prst="ellipse">
            <a:avLst/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25627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מראת מסד הכנסת, וקונסולה משלה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48 טבלאות הכנסת, עם עמודות מוקלדות. באותו יום נוספו פרוטוקולי הוועדות ומחקרי ממ"מ.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 05 · יולי 2026, חלק שני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מהמאגר הבודד לקונסולה אחת מעל הכול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5775" y="1773936"/>
            <a:ext cx="20116" cy="3656075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28655" y="171907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28655" y="173736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13.07</a:t>
            </a:r>
          </a:p>
        </p:txBody>
      </p:sp>
      <p:sp>
        <p:nvSpPr>
          <p:cNvPr id="9" name="Oval 8"/>
          <p:cNvSpPr/>
          <p:nvPr/>
        </p:nvSpPr>
        <p:spPr>
          <a:xfrm>
            <a:off x="10478109" y="1783080"/>
            <a:ext cx="155448" cy="155448"/>
          </a:xfrm>
          <a:prstGeom prst="ellipse">
            <a:avLst/>
          </a:prstGeom>
          <a:solidFill>
            <a:srgbClr val="1D4ED8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חיפוש עמוק בתוך גוף המסמכים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מצב «עמוק» שמחפש טקסט מלא בפרוטוקולים ובמחקרי ממ"מ.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28655" y="2433828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28655" y="245211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15.07</a:t>
            </a:r>
          </a:p>
        </p:txBody>
      </p:sp>
      <p:sp>
        <p:nvSpPr>
          <p:cNvPr id="13" name="Oval 12"/>
          <p:cNvSpPr/>
          <p:nvPr/>
        </p:nvSpPr>
        <p:spPr>
          <a:xfrm>
            <a:off x="10478109" y="2497836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97252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מאגרי משרד הבריאות, וטבלה לכל משאב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כתיבה כפולה של קבצים וטבלאות, וטבלה נפרדת לכל משאב במאגר.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28655" y="3148584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8655" y="3166872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17.07</a:t>
            </a:r>
          </a:p>
        </p:txBody>
      </p:sp>
      <p:sp>
        <p:nvSpPr>
          <p:cNvPr id="17" name="Oval 16"/>
          <p:cNvSpPr/>
          <p:nvPr/>
        </p:nvSpPr>
        <p:spPr>
          <a:xfrm>
            <a:off x="10478109" y="3212592"/>
            <a:ext cx="155448" cy="155448"/>
          </a:xfrm>
          <a:prstGeom prst="ellipse">
            <a:avLst/>
          </a:prstGeom>
          <a:solidFill>
            <a:srgbClr val="B4232C"/>
          </a:solidFill>
          <a:ln w="20320">
            <a:solidFill>
              <a:srgbClr val="B42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12008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קשיחות אבטחה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הקונסולות עוברות לתפקיד קריאה בלבד, מבוטל JWT בכתובת, ונוספת הגבלת קצב לכל נקודת קצה.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28655" y="3863339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28655" y="3881628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21.07</a:t>
            </a:r>
          </a:p>
        </p:txBody>
      </p:sp>
      <p:sp>
        <p:nvSpPr>
          <p:cNvPr id="21" name="Oval 20"/>
          <p:cNvSpPr/>
          <p:nvPr/>
        </p:nvSpPr>
        <p:spPr>
          <a:xfrm>
            <a:off x="10478109" y="3927348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26764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מצב השלטון המקומי ומצפן השירותים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נתוני רשויות מקומיות לפי מדד, ושניהם זמינים לשאילתה.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28655" y="4578095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459638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22.07</a:t>
            </a:r>
          </a:p>
        </p:txBody>
      </p:sp>
      <p:sp>
        <p:nvSpPr>
          <p:cNvPr id="25" name="Oval 24"/>
          <p:cNvSpPr/>
          <p:nvPr/>
        </p:nvSpPr>
        <p:spPr>
          <a:xfrm>
            <a:off x="10478109" y="4642104"/>
            <a:ext cx="155448" cy="155448"/>
          </a:xfrm>
          <a:prstGeom prst="ellipse">
            <a:avLst/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541520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קונסולת נתונים מרכזית, תרשימים וגילוי אוטומטי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שאילתה חוצה‑סכמות מעל כל טבלאות האתר, בונה תרשימים ללא קוד, ומאגר חדש שמתווסף מעצמו כל שש שעות.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28655" y="529285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8655" y="531114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23.07</a:t>
            </a:r>
          </a:p>
        </p:txBody>
      </p:sp>
      <p:sp>
        <p:nvSpPr>
          <p:cNvPr id="29" name="Oval 28"/>
          <p:cNvSpPr/>
          <p:nvPr/>
        </p:nvSpPr>
        <p:spPr>
          <a:xfrm>
            <a:off x="10478109" y="5356860"/>
            <a:ext cx="155448" cy="15544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25627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עמודת PostGIS, וניתוח מרחבי על מפה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גאומטריה אמיתית על שכבות ממוראות, ניתוח מרחבי מצויר על מפה, ומחבר Looker Studio.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 06 · סוף יולי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גרסאות לעם מפסיק להיות פרויקט בודד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5775" y="1773936"/>
            <a:ext cx="20116" cy="3227831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28655" y="171907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28655" y="173736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24.07</a:t>
            </a:r>
          </a:p>
        </p:txBody>
      </p:sp>
      <p:sp>
        <p:nvSpPr>
          <p:cNvPr id="9" name="Oval 8"/>
          <p:cNvSpPr/>
          <p:nvPr/>
        </p:nvSpPr>
        <p:spPr>
          <a:xfrm>
            <a:off x="10478109" y="1783080"/>
            <a:ext cx="155448" cy="155448"/>
          </a:xfrm>
          <a:prstGeom prst="ellipse">
            <a:avLst/>
          </a:prstGeom>
          <a:solidFill>
            <a:srgbClr val="A16207"/>
          </a:solidFill>
          <a:ln w="2032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9649663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מחבר Looker Studio יוצא לציבור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חיבור ישיר מ‑Looker אל הטבלאות, עם תוויות בעברית.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28655" y="2505456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28655" y="252374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26.07</a:t>
            </a:r>
          </a:p>
        </p:txBody>
      </p:sp>
      <p:sp>
        <p:nvSpPr>
          <p:cNvPr id="13" name="Oval 12"/>
          <p:cNvSpPr/>
          <p:nvPr/>
        </p:nvSpPr>
        <p:spPr>
          <a:xfrm>
            <a:off x="10478109" y="2569464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68880"/>
            <a:ext cx="9649663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מידע לעם נכנס כמקור אח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חיפוש לפי ארגונים ופורמטים, וייבוא משאבים לטבלאות שאפשר לשאול.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28655" y="3291840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8655" y="3310128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26.07</a:t>
            </a:r>
          </a:p>
        </p:txBody>
      </p:sp>
      <p:sp>
        <p:nvSpPr>
          <p:cNvPr id="17" name="Oval 16"/>
          <p:cNvSpPr/>
          <p:nvPr/>
        </p:nvSpPr>
        <p:spPr>
          <a:xfrm>
            <a:off x="10478109" y="3355848"/>
            <a:ext cx="155448" cy="155448"/>
          </a:xfrm>
          <a:prstGeom prst="ellipse">
            <a:avLst/>
          </a:prstGeom>
          <a:solidFill>
            <a:srgbClr val="1D4ED8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55264"/>
            <a:ext cx="9649663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יומן לעם עובר פנימה במלואו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פרויקט אח שלם: מסד ייעודי, ממשק, עמוד משלו, שרת MCP רביעי וייבוא אוטומטי.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28655" y="4078224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28655" y="4096512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26.07</a:t>
            </a:r>
          </a:p>
        </p:txBody>
      </p:sp>
      <p:sp>
        <p:nvSpPr>
          <p:cNvPr id="21" name="Oval 20"/>
          <p:cNvSpPr/>
          <p:nvPr/>
        </p:nvSpPr>
        <p:spPr>
          <a:xfrm>
            <a:off x="10500969" y="4142232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041648"/>
            <a:ext cx="9649663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פילטרים מבוססי תוכן בקטלוג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סימון וסינון «יישוב», ופילטרים על דגלי התוכן והשכבות המרחביות.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28655" y="4864607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488289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27.07</a:t>
            </a:r>
          </a:p>
        </p:txBody>
      </p:sp>
      <p:sp>
        <p:nvSpPr>
          <p:cNvPr id="25" name="Oval 24"/>
          <p:cNvSpPr/>
          <p:nvPr/>
        </p:nvSpPr>
        <p:spPr>
          <a:xfrm>
            <a:off x="10478109" y="4928616"/>
            <a:ext cx="155448" cy="155448"/>
          </a:xfrm>
          <a:prstGeom prst="ellipse">
            <a:avLst/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828032"/>
            <a:ext cx="9649663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פרופיילר טבלאות, ומסגור ארבעה מקורות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פרופיל לכל טבלה עם העשרת LLM, ועמוד ממשק שמציג את ארבעת המקורות.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 07 · תחילת אוגוסט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ללמד את המאגרים לדבר זה עם זה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המכשול הגדול אינו הגישה אלא השמות. הפרק הזה בונה שכבת שמות אחת, ומעליה מרשה לשאול בעברית.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45775" y="2377440"/>
            <a:ext cx="20116" cy="3153155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28655" y="2322576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28655" y="234086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27.07</a:t>
            </a:r>
          </a:p>
        </p:txBody>
      </p:sp>
      <p:sp>
        <p:nvSpPr>
          <p:cNvPr id="10" name="Oval 9"/>
          <p:cNvSpPr/>
          <p:nvPr/>
        </p:nvSpPr>
        <p:spPr>
          <a:xfrm>
            <a:off x="10478109" y="2386584"/>
            <a:ext cx="155448" cy="155448"/>
          </a:xfrm>
          <a:prstGeom prst="ellipse">
            <a:avLst/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86000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מפתח היישובים של הלמ"ס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אינדקס רשמי עם כ‑30,800 הטיות, וקציר אליאסים שלומד מהנתונים עצמם.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8655" y="2936748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28655" y="295503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28.07</a:t>
            </a:r>
          </a:p>
        </p:txBody>
      </p:sp>
      <p:sp>
        <p:nvSpPr>
          <p:cNvPr id="14" name="Oval 13"/>
          <p:cNvSpPr/>
          <p:nvPr/>
        </p:nvSpPr>
        <p:spPr>
          <a:xfrm>
            <a:off x="10478109" y="3000755"/>
            <a:ext cx="155448" cy="155448"/>
          </a:xfrm>
          <a:prstGeom prst="ellipse">
            <a:avLst/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00172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חיבור מרפא בין שני מאגרים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שני הצדדים נפתרים לקוד רשמי, כך שחיבור לפי שם מפסיק ליפול בשקט על כתיב שונה.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8655" y="3550920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8655" y="3569208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01.08</a:t>
            </a:r>
          </a:p>
        </p:txBody>
      </p:sp>
      <p:sp>
        <p:nvSpPr>
          <p:cNvPr id="18" name="Oval 17"/>
          <p:cNvSpPr/>
          <p:nvPr/>
        </p:nvSpPr>
        <p:spPr>
          <a:xfrm>
            <a:off x="10478109" y="3614928"/>
            <a:ext cx="155448" cy="155448"/>
          </a:xfrm>
          <a:prstGeom prst="ellipse">
            <a:avLst/>
          </a:prstGeom>
          <a:solidFill>
            <a:srgbClr val="1D4ED8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14344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שכבה סמנטית, לא text‑to‑SQL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שאלה בעברית מתקמפלת ל‑JSON מאומת, כך שהמודל לעולם אינו כותב את השאילתה בעצמו.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28655" y="4165091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8655" y="418338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02.08</a:t>
            </a:r>
          </a:p>
        </p:txBody>
      </p:sp>
      <p:sp>
        <p:nvSpPr>
          <p:cNvPr id="22" name="Oval 21"/>
          <p:cNvSpPr/>
          <p:nvPr/>
        </p:nvSpPr>
        <p:spPr>
          <a:xfrm>
            <a:off x="10500969" y="4229100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128516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הסייר המודרך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אותה שליפה בדיוק, רק שאדם מחליט, וכל שימוש נרשם כדוגמה מתויגת.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28655" y="4779263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4797551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03.08</a:t>
            </a:r>
          </a:p>
        </p:txBody>
      </p:sp>
      <p:sp>
        <p:nvSpPr>
          <p:cNvPr id="26" name="Oval 25"/>
          <p:cNvSpPr/>
          <p:nvPr/>
        </p:nvSpPr>
        <p:spPr>
          <a:xfrm>
            <a:off x="10500969" y="4843271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42688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צביעת מפה לפי כל מדד שהיא נושאת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עמודה מספרית הופכת לסקאלת צבע על טווח הערכים שלה.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28655" y="5393435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28655" y="5411723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04.08</a:t>
            </a:r>
          </a:p>
        </p:txBody>
      </p:sp>
      <p:sp>
        <p:nvSpPr>
          <p:cNvPr id="30" name="Oval 29"/>
          <p:cNvSpPr/>
          <p:nvPr/>
        </p:nvSpPr>
        <p:spPr>
          <a:xfrm>
            <a:off x="10478109" y="5457443"/>
            <a:ext cx="155448" cy="155448"/>
          </a:xfrm>
          <a:prstGeom prst="ellipse">
            <a:avLst/>
          </a:prstGeom>
          <a:solidFill>
            <a:srgbClr val="1D4ED8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356859"/>
            <a:ext cx="9649663" cy="614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שרת MCP מעל כל מסד הנתונים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האינדקס של האתר הופך לשתי טבלאות, ומעל המסד עולה שרת שמאפשר SQL חופשי.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 08 · אוגוסט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שאלה אחת, כל המאגרים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5775" y="1773936"/>
            <a:ext cx="20116" cy="3656075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28655" y="171907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28655" y="173736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10.08</a:t>
            </a:r>
          </a:p>
        </p:txBody>
      </p:sp>
      <p:sp>
        <p:nvSpPr>
          <p:cNvPr id="9" name="Oval 8"/>
          <p:cNvSpPr/>
          <p:nvPr/>
        </p:nvSpPr>
        <p:spPr>
          <a:xfrm>
            <a:off x="10478109" y="1783080"/>
            <a:ext cx="155448" cy="155448"/>
          </a:xfrm>
          <a:prstGeom prst="ellipse">
            <a:avLst/>
          </a:prstGeom>
          <a:solidFill>
            <a:srgbClr val="1D4ED8"/>
          </a:solidFill>
          <a:ln w="2032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שאלות לעם, שאילתה אחת ל‑13 קורפוסים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שאלה מתפצלת לכל המאגרים במקביל, וכל מקור מדווח כמה מצא ומה הכיסוי שלו.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28655" y="2433828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28655" y="245211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10.08</a:t>
            </a:r>
          </a:p>
        </p:txBody>
      </p:sp>
      <p:sp>
        <p:nvSpPr>
          <p:cNvPr id="13" name="Oval 12"/>
          <p:cNvSpPr/>
          <p:nvPr/>
        </p:nvSpPr>
        <p:spPr>
          <a:xfrm>
            <a:off x="10478109" y="2497836"/>
            <a:ext cx="155448" cy="15544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97252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נדל"ן לעם, הצלבת הנכסים הראשונה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חלקות, כתובות, מיקודים וגוש‑חלקה על מפתח אחד, עם פוליגון אמיתי בכל חיפוש.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28655" y="3148584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8655" y="3166872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13.08</a:t>
            </a:r>
          </a:p>
        </p:txBody>
      </p:sp>
      <p:sp>
        <p:nvSpPr>
          <p:cNvPr id="17" name="Oval 16"/>
          <p:cNvSpPr/>
          <p:nvPr/>
        </p:nvSpPr>
        <p:spPr>
          <a:xfrm>
            <a:off x="10500969" y="3212592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12008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שכבה יורדת עם הסימבולוגיה שלה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העיצוב מצורף להורדה, בדיאלקט של QGIS ובהמרה גם לזה של ArcGIS.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28655" y="3863339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28655" y="3881628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14.08</a:t>
            </a:r>
          </a:p>
        </p:txBody>
      </p:sp>
      <p:sp>
        <p:nvSpPr>
          <p:cNvPr id="21" name="Oval 20"/>
          <p:cNvSpPr/>
          <p:nvPr/>
        </p:nvSpPr>
        <p:spPr>
          <a:xfrm>
            <a:off x="10478109" y="3927348"/>
            <a:ext cx="155448" cy="155448"/>
          </a:xfrm>
          <a:prstGeom prst="ellipse">
            <a:avLst/>
          </a:prstGeom>
          <a:solidFill>
            <a:srgbClr val="C2410C"/>
          </a:solidFill>
          <a:ln w="2032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26764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ניגוד עניינים לעם נכנס במלואו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קורפוס, עמוד עם גרף ישויות, ממשק ציבורי, שרת MCP ומנהל מלא בארבעה גלים.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28655" y="4578095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459638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19.08</a:t>
            </a:r>
          </a:p>
        </p:txBody>
      </p:sp>
      <p:sp>
        <p:nvSpPr>
          <p:cNvPr id="25" name="Oval 24"/>
          <p:cNvSpPr/>
          <p:nvPr/>
        </p:nvSpPr>
        <p:spPr>
          <a:xfrm>
            <a:off x="10500969" y="4642104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541520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שכבות המפה דרך הממשק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השכבות הממוראות מוגשות כ‑GeoJSON לפי תיבה תוחמת, עם תקרת מראה.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28655" y="529285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8655" y="531114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21.08</a:t>
            </a:r>
          </a:p>
        </p:txBody>
      </p:sp>
      <p:sp>
        <p:nvSpPr>
          <p:cNvPr id="29" name="Oval 28"/>
          <p:cNvSpPr/>
          <p:nvPr/>
        </p:nvSpPr>
        <p:spPr>
          <a:xfrm>
            <a:off x="10478109" y="5356860"/>
            <a:ext cx="155448" cy="155448"/>
          </a:xfrm>
          <a:prstGeom prst="ellipse">
            <a:avLst/>
          </a:prstGeom>
          <a:solidFill>
            <a:srgbClr val="A16207"/>
          </a:solidFill>
          <a:ln w="2032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25627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נגישות ברמת WCAG 2.2 AAA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הממשק עולה לרמה הגבוהה של התקן, לא לרמת המינימום.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פרק 09 · ספטמבר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בית חדש, וגבולות ברורים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5775" y="1773936"/>
            <a:ext cx="20116" cy="3656075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28655" y="171907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28655" y="173736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01.09</a:t>
            </a:r>
          </a:p>
        </p:txBody>
      </p:sp>
      <p:sp>
        <p:nvSpPr>
          <p:cNvPr id="9" name="Oval 8"/>
          <p:cNvSpPr/>
          <p:nvPr/>
        </p:nvSpPr>
        <p:spPr>
          <a:xfrm>
            <a:off x="10500969" y="1783080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הכתובות הישנות ממשיכות לעבוד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קישורי האתר שנסגר שורדים, ולצדם שרת MCP למימון בחירות.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28655" y="2433828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28655" y="2452116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10.09</a:t>
            </a:r>
          </a:p>
        </p:txBody>
      </p:sp>
      <p:sp>
        <p:nvSpPr>
          <p:cNvPr id="13" name="Oval 12"/>
          <p:cNvSpPr/>
          <p:nvPr/>
        </p:nvSpPr>
        <p:spPr>
          <a:xfrm>
            <a:off x="10478109" y="2497836"/>
            <a:ext cx="155448" cy="155448"/>
          </a:xfrm>
          <a:prstGeom prst="ellipse">
            <a:avLst/>
          </a:prstGeom>
          <a:solidFill>
            <a:srgbClr val="B4232C"/>
          </a:solidFill>
          <a:ln w="20320">
            <a:solidFill>
              <a:srgbClr val="B42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97252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ההרשאות עוברות לסכימה משלהן, ונבדקות באתחול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הרשאת אדמין נגזרת מסוד, החיבור לקריאה בלבד נכשל סגור, ובכל אתחול נשאל המסד מה התפקיד הציבורי רשאי לקרוא.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28655" y="3148584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8655" y="3166872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11.09</a:t>
            </a:r>
          </a:p>
        </p:txBody>
      </p:sp>
      <p:sp>
        <p:nvSpPr>
          <p:cNvPr id="17" name="Oval 16"/>
          <p:cNvSpPr/>
          <p:nvPr/>
        </p:nvSpPr>
        <p:spPr>
          <a:xfrm>
            <a:off x="10478109" y="3212592"/>
            <a:ext cx="155448" cy="155448"/>
          </a:xfrm>
          <a:prstGeom prst="ellipse">
            <a:avLst/>
          </a:prstGeom>
          <a:solidFill>
            <a:srgbClr val="52607A"/>
          </a:solidFill>
          <a:ln w="20320">
            <a:solidFill>
              <a:srgbClr val="52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12008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הארכיון עובר בית, אל xhostd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מעבר בגלים עם הקפאת גרסאות, והעתקה שמתחדשת מנקודת העצירה.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28655" y="3863339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28655" y="3881628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18.09</a:t>
            </a:r>
          </a:p>
        </p:txBody>
      </p:sp>
      <p:sp>
        <p:nvSpPr>
          <p:cNvPr id="21" name="Oval 20"/>
          <p:cNvSpPr/>
          <p:nvPr/>
        </p:nvSpPr>
        <p:spPr>
          <a:xfrm>
            <a:off x="10500969" y="3927348"/>
            <a:ext cx="109728" cy="10972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526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26764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מאגר שנדחף מבחוץ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מאגר יכול להכריז שגרסאותיו מגיעות מחוץ לצי, וכל Poller מכריז מה הוא יודע להריץ.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28655" y="4578095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4596384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20.09</a:t>
            </a:r>
          </a:p>
        </p:txBody>
      </p:sp>
      <p:sp>
        <p:nvSpPr>
          <p:cNvPr id="25" name="Oval 24"/>
          <p:cNvSpPr/>
          <p:nvPr/>
        </p:nvSpPr>
        <p:spPr>
          <a:xfrm>
            <a:off x="10478109" y="4642104"/>
            <a:ext cx="155448" cy="155448"/>
          </a:xfrm>
          <a:prstGeom prst="ellipse">
            <a:avLst/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541520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מראת Parquet לכל טבלה גדולה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טבלה מעל 500 אלף שורות מקבלת עותק להורדה, וגרסה שלמה יורדת כקובץ אחד.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28655" y="5292852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8655" y="5311140"/>
            <a:ext cx="7498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20.09</a:t>
            </a:r>
          </a:p>
        </p:txBody>
      </p:sp>
      <p:sp>
        <p:nvSpPr>
          <p:cNvPr id="29" name="Oval 28"/>
          <p:cNvSpPr/>
          <p:nvPr/>
        </p:nvSpPr>
        <p:spPr>
          <a:xfrm>
            <a:off x="10478109" y="5356860"/>
            <a:ext cx="155448" cy="155448"/>
          </a:xfrm>
          <a:prstGeom prst="ellipse">
            <a:avLst/>
          </a:prstGeom>
          <a:solidFill>
            <a:srgbClr val="A16207"/>
          </a:solidFill>
          <a:ln w="2032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256276"/>
            <a:ext cx="9649663" cy="71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עסקאות נדל"ן, פרויקט משלו</a:t>
            </a:r>
          </a:p>
          <a:p>
            <a:pPr algn="r" rtl="1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אזור סטטיסטי ועסקאות על כל נכס, מאגר העסקאות במלואו, ושני שרתי MCP חדשים.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חוט אחד מתוך הסיפור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איך המפה הגיעה לאן שהיא נמצאת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סדר הזמנים מפזר את הצד המרחבי על פני תשעה פרקים. כאן הוא מונח ברצף אחד.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37215" y="2377440"/>
            <a:ext cx="18288" cy="2926080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2079" y="2322576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02.05</a:t>
            </a:r>
          </a:p>
        </p:txBody>
      </p:sp>
      <p:sp>
        <p:nvSpPr>
          <p:cNvPr id="9" name="Oval 8"/>
          <p:cNvSpPr/>
          <p:nvPr/>
        </p:nvSpPr>
        <p:spPr>
          <a:xfrm>
            <a:off x="10582351" y="238658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7015" y="2286000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שכבות GovMap נכנסות למעקב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המקור המרחבי הראשון, עם גרסה לכל שינוי.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2079" y="3035808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22.05</a:t>
            </a:r>
          </a:p>
        </p:txBody>
      </p:sp>
      <p:sp>
        <p:nvSpPr>
          <p:cNvPr id="12" name="Oval 11"/>
          <p:cNvSpPr/>
          <p:nvPr/>
        </p:nvSpPr>
        <p:spPr>
          <a:xfrm>
            <a:off x="10582351" y="3099815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7015" y="2999232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מפה חיה בעמוד המאגר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המפה הופכת לדרך הגשה, לא לנספח.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2079" y="3749039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05.07</a:t>
            </a:r>
          </a:p>
        </p:txBody>
      </p:sp>
      <p:sp>
        <p:nvSpPr>
          <p:cNvPr id="15" name="Oval 14"/>
          <p:cNvSpPr/>
          <p:nvPr/>
        </p:nvSpPr>
        <p:spPr>
          <a:xfrm>
            <a:off x="10582351" y="3813048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7015" y="3712464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פורמטים לשכבות ענק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קבצים כבדים מוגשים בפורמט שנועד להם.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2079" y="4462271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23.07</a:t>
            </a:r>
          </a:p>
        </p:txBody>
      </p:sp>
      <p:sp>
        <p:nvSpPr>
          <p:cNvPr id="18" name="Oval 17"/>
          <p:cNvSpPr/>
          <p:nvPr/>
        </p:nvSpPr>
        <p:spPr>
          <a:xfrm>
            <a:off x="10582351" y="4526279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7015" y="4425696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עמודת PostGIS על הטבלאות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ניתוח מרחבי אמיתי, פתוח בקונסולה הציבורית.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2079" y="5175504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24.07</a:t>
            </a:r>
          </a:p>
        </p:txBody>
      </p:sp>
      <p:sp>
        <p:nvSpPr>
          <p:cNvPr id="21" name="Oval 20"/>
          <p:cNvSpPr/>
          <p:nvPr/>
        </p:nvSpPr>
        <p:spPr>
          <a:xfrm>
            <a:off x="10582351" y="5239512"/>
            <a:ext cx="128016" cy="12801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7015" y="5138928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המפה הופכת לסוג תרשים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תוצאת שאילתה מצוירת על מפה כמו כל תרשים.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53431" y="2377440"/>
            <a:ext cx="18288" cy="2926080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8295" y="2322576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03.08</a:t>
            </a:r>
          </a:p>
        </p:txBody>
      </p:sp>
      <p:sp>
        <p:nvSpPr>
          <p:cNvPr id="25" name="Oval 24"/>
          <p:cNvSpPr/>
          <p:nvPr/>
        </p:nvSpPr>
        <p:spPr>
          <a:xfrm>
            <a:off x="4998567" y="238658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286000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צביעה לפי כל מדד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מפה נבנית משאילתה בלי שלב עיצוב.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8295" y="3035808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10.08</a:t>
            </a:r>
          </a:p>
        </p:txBody>
      </p:sp>
      <p:sp>
        <p:nvSpPr>
          <p:cNvPr id="28" name="Oval 27"/>
          <p:cNvSpPr/>
          <p:nvPr/>
        </p:nvSpPr>
        <p:spPr>
          <a:xfrm>
            <a:off x="4998567" y="3099815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2999232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הצלבת הנכסים של נדל"ן לעם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חלקה, כתובת, מיקוד וגוש על מפתח אחד.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8295" y="3749039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13.08</a:t>
            </a:r>
          </a:p>
        </p:txBody>
      </p:sp>
      <p:sp>
        <p:nvSpPr>
          <p:cNvPr id="31" name="Oval 30"/>
          <p:cNvSpPr/>
          <p:nvPr/>
        </p:nvSpPr>
        <p:spPr>
          <a:xfrm>
            <a:off x="4998567" y="3813048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712464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סימבולוגיה יורדת עם השכבה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בדיאלקט של QGIS ושל ArcGIS כאחד.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8295" y="4462271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19.08</a:t>
            </a:r>
          </a:p>
        </p:txBody>
      </p:sp>
      <p:sp>
        <p:nvSpPr>
          <p:cNvPr id="34" name="Oval 33"/>
          <p:cNvSpPr/>
          <p:nvPr/>
        </p:nvSpPr>
        <p:spPr>
          <a:xfrm>
            <a:off x="4998567" y="4526279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25696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שכבות דרך הממשק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הגשה כ‑GeoJSON לפי תיבה תוחמת, מתועד.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8295" y="5175504"/>
            <a:ext cx="7863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20.09</a:t>
            </a:r>
          </a:p>
        </p:txBody>
      </p:sp>
      <p:sp>
        <p:nvSpPr>
          <p:cNvPr id="37" name="Oval 36"/>
          <p:cNvSpPr/>
          <p:nvPr/>
        </p:nvSpPr>
        <p:spPr>
          <a:xfrm>
            <a:off x="4998567" y="5239512"/>
            <a:ext cx="128016" cy="128016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138928"/>
            <a:ext cx="424875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עסקאות נדל"ן על המפה</a:t>
            </a:r>
          </a:p>
          <a:p>
            <a:pPr algn="r" rtl="1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אזור סטטיסטי ועסקאות מקרקעין לכל נכס.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016752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המצגת המלאה על הצד המרחבי היא מסמך נפרד: over.org.il/story/spatial-deck.pptx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במספרים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מה נבנה בחצי השנה הזאת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2932" y="1700784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9236" y="1883664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945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קומיטים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3082" y="1700784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386" y="1883664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4,265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מאגרים במעקב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00784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1,779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טבלאות לשאילתה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3145536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3328416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10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שרתי MCP חיים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3082" y="3145536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9386" y="3328416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125M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שורות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145536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328416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31,564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קבצים שמורים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681728"/>
            <a:ext cx="10765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וכל אחד מהם נשמר בכל גרסה שבה הוא השתנה, עם קישור אימות אל המקור הממשלתי שממנו נלקח.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55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8FD4E6"/>
                </a:solidFill>
                <a:latin typeface="Segoe UI"/>
                <a:cs typeface="Segoe UI"/>
                <a:ea typeface="Segoe UI"/>
              </a:rPr>
              <a:t>לסיכום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107652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מ‑CKAN בודד לתשתית שקיפות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71800"/>
            <a:ext cx="86121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DCE9F2"/>
                </a:solidFill>
                <a:latin typeface="Segoe UI"/>
                <a:cs typeface="Segoe UI"/>
                <a:ea typeface="Segoe UI"/>
              </a:rPr>
              <a:t>הקו המנחה לאורך כל הדרך: כל מקור ממשלתי שנוסף נשמר, מגורסן, ונחשף בכמה שפות בבת אחת — קובץ, טבלה, מפה, ממשק ו‑MCP.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29139" y="4572000"/>
            <a:ext cx="1449324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9139" y="4572000"/>
            <a:ext cx="14493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ארכיון גרסאות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5787" y="4572000"/>
            <a:ext cx="1545336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5787" y="4572000"/>
            <a:ext cx="1545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כ‑4,265 מאגרים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2375" y="4572000"/>
            <a:ext cx="2025395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2375" y="4572000"/>
            <a:ext cx="2025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קונסולת SQL ציבורית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5035" y="4572000"/>
            <a:ext cx="1449324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5035" y="4572000"/>
            <a:ext cx="14493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עשרה שרתי 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1683" y="4572000"/>
            <a:ext cx="1545336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1683" y="4572000"/>
            <a:ext cx="1545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מפות ו‑PostGIS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66367" y="4572000"/>
            <a:ext cx="1257300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66367" y="4572000"/>
            <a:ext cx="12573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מחבר Looker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29139" y="5102352"/>
            <a:ext cx="1449324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9139" y="5102352"/>
            <a:ext cx="14493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פרויקטים אחים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7751" y="5102352"/>
            <a:ext cx="1833372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7751" y="5102352"/>
            <a:ext cx="18333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חיפוש חוצה‑מאגרים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035040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40">
                <a:solidFill>
                  <a:srgbClr val="8FD4E6"/>
                </a:solidFill>
                <a:latin typeface="Segoe UI"/>
                <a:cs typeface="Segoe UI"/>
                <a:ea typeface="Segoe UI"/>
              </a:rPr>
              <a:t>over.org.il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