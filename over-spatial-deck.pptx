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0C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06863" y="1691640"/>
            <a:ext cx="1371600" cy="45720"/>
          </a:xfrm>
          <a:prstGeom prst="rect">
            <a:avLst/>
          </a:prstGeom>
          <a:solidFill>
            <a:srgbClr val="57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6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מיפוי · GIS · מרחב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65960"/>
            <a:ext cx="10765231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גרסאות לעם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57B6D0"/>
                </a:solidFill>
                <a:latin typeface="Segoe UI"/>
                <a:cs typeface="Segoe UI"/>
                <a:ea typeface="Segoe UI"/>
              </a:rPr>
              <a:t>מהטבלה אל המפה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14800"/>
            <a:ext cx="796627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7C2D8"/>
                </a:solidFill>
                <a:latin typeface="Segoe UI"/>
                <a:cs typeface="Segoe UI"/>
                <a:ea typeface="Segoe UI"/>
              </a:rPr>
              <a:t>איך ארכיון של מאגרי מידע ממשלתיים הפך לתשתית מרחבית: 950 מאגרים עם גאומטריה, מפה בכל עמוד מאגר, PostGIS פתוח לציבור, והצלבה מלאה של חלקות, כתובות ועסקאות נדל"ן.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0644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160">
                <a:solidFill>
                  <a:srgbClr val="7C89A3"/>
                </a:solidFill>
                <a:latin typeface="Segoe UI"/>
                <a:cs typeface="Segoe UI"/>
                <a:ea typeface="Segoe UI"/>
              </a:rPr>
              <a:t>ספטמבר 2026  ·  over.org.il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נקודת המוצא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לרוב נתוני הממשלה יש מקום — ורובם לא מגיעים כמפה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טבלה ממשלתית טיפוסית יודעת איפה היא, אבל אומרת את זה בשפה שאי אפשר למפות: שם יישוב בכתיב חופשי, גוש וחלקה בלי צורה, או כתובת בלי קואורדינטה. הפער הזה הוא מה שהתשתית הזאת סוגרת.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23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הבעיה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מזהה בלי צורה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גוש־חלקה, מיקוד או כתובת הם מזהי מקום מצוינים — ואף אחד מהם אינו פוליגון שאפשר לצייר או לחתוך מולו.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308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8320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הבעיה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צורה בלי מזהה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שכבות ממ"ג רבות נושאות פוליגון מדויק בלי מפתח שאפשר לחבר אליו מאגר אחר — מפה יפה שאי אפשר להצליב.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8470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הפתרון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מפתח משותף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צד נפתר למזהה רשמי — קוד יישוב, מפתח חלקה, נקודה — ורק אז מחברים. חיבור לפי טקסט חופשי מחזיר תוצאה ונכשל בשקט.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במספרים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המרחב של המערכת היום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293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923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950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מאגרים מרחביים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308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938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896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ניתנים לשאילתה מרחבית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00784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883664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925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עם תצוגת מפה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906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טבלאות עם עמודת גאומטריה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308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938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10M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שורות עם גאומטריה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145536"/>
            <a:ext cx="3405530" cy="120700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328416"/>
            <a:ext cx="311292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F6F8B"/>
                </a:solidFill>
                <a:latin typeface="Segoe UI"/>
                <a:cs typeface="Segoe UI"/>
                <a:ea typeface="Segoe UI"/>
              </a:rPr>
              <a:t>1.1M</a:t>
            </a:r>
          </a:p>
          <a:p>
            <a:pPr algn="ctr" rtl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חלקות מוצלבות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81728"/>
            <a:ext cx="10765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ולצדם מאגר עסקאות המקרקעין: 3,844,200 עסקאות מ‑1998 ועד 17 בספטמבר 2026, ב‑1,336 יישובים ועל 381,177 חלקות.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איסוף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שכבות ממ"ג נכנסות שלמות, לא כתצוגה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שכבה נשמרת עם כל השדות שלה, בכל גרסה, ונשארת ניתנת להורדה ולשאילתה — גם כשהמקור מחליף אותה.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GovMap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גירוד WFS מדוד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משיכה מעומדת של GetFeature, מאגר לכל שכבה, וכתובת מקור שמצביעה על השכבה עצמה. שכבה כבדה אחת: 329,182 מופעים בשבעים וחמש דקות, שלמה.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חצב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קטלוג שכבות התחבורה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כ‑160 שכבות של משרד התחבורה נרשמות ונשמרות בקטלוג, כך שמה שקיים ידוע — גם לפני שהוא נמשך במלואו.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52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52607A"/>
                </a:solidFill>
                <a:latin typeface="Segoe UI"/>
                <a:cs typeface="Segoe UI"/>
                <a:ea typeface="Segoe UI"/>
              </a:rPr>
              <a:t>פורמטים כבדים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קבצים שנועדו לשכבות ענק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שכבות גדולות מוגשות בפורמטים המתאימים להן, GPKG ו‑GeoParquet, עם העלאות מרובות־חלקים ישירות לאחסון האובייקטים.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מראה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מראת Parquet לכל טבלה גדולה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טבלה מעל 500 אלף שורות מקבלת עותק Parquet להורדה — פורמט שכלי GIS ו‑pandas קוראים ישירות.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נאמנות למקור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שכבה יורדת עם העיצוב שלה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שכבה בלי הסימבולוגיה שלה היא שכבה שצריך לעצב מחדש. ההורדה כוללת את העיצוב, בשני הדיאלקטים שמשתמשים בהם בפועל.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23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QGIS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העיצוב כפי שפורסם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חבילת הסימבולוגיה העדכנית מצורפת כברירת מחדל, ומסומנת כשהיא נורשת משכבת אב.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308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8320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ArcGIS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המרה מיידית לפורמט lyrx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ההמרה נעשית בזמן ההורדה, כך שגם משתמשי ArcGIS מקבלים את אותו מראה בלי עבודה ידנית.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8470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מלכודת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סיכת צבע שאינה צבע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סיכות ה‑SVG של GovMap הן תבניות שהצבע שלהן חי רק במחרוזת השאילתה של הכתובת — מי שמוריד את הקובץ לבדו מקבל סיכה חסרת צבע.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תצוגה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מפה בכל עמוד מאגר, ומפה בתוך הקונסולה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כיום 925 מאגרים מציגים מפה בעמוד שלהם. המפה אינה נספח לתצוגה הטבלאית — היא אחת מחמש שפות ההגשה של אותו מקור אמת.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בעמוד המאגר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מפה חיה עם פילטרים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תצוגה אינטראקטיבית עם סינון קטגוריאלי, מסך מלא וזרימת נתונים — בלי להוריד דבר ובלי כלי חיצוני.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בקונסולת הנתונים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המפה כסוג תרשים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תוצאת שאילתה מרחבית מצוירת על מפה כמו כל תרשים אחר, עם הגדרות משלה ועם שיתוף בקישור.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צביעה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כל מדד הופך לסקאלה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עמודה מספרית נהיית סקאלת צבע על טווח הערכים של עצמה, כך שמפה נבנית משאילתה בלי שלב עיצוב.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ממשק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שכבה לפי תיבה תוחמת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השכבות הממוראות מוגשות כ‑GeoJSON לפי bbox, מתועד, עם תקרת מראה של 100MB כדי שמשיכה אחת לא תגרור את הכול.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המנוע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מנוע PostGIS פתוח לציבור, לא רק לצוות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עמודת הגאומטריה נבנית על הטבלאות לפי מה שהן באמת נושאות, ומשם כל פונקציות הניתוח המרחבי זמינות לכל אחד בקונסולת ה‑SQL הציבורית.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גאומטריה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הצורה יושבת על הטבלה עצמה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כיום 906 טבלאות נושאות עמודת גאומטריה, כעשרה מיליון שורות — אותן טבלאות בדיוק שמוגשות כקובץ וכממשק.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אופרטורים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חיתוך, מרחק והכלה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הפונקציות ST_Contains, ST_DWithin ו‑ST_Intersects זמינות לשאילתה ציבורית — כולל חיתוך בין שתי שכבות ממשלתיות.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מלכודת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התוסף יושב בסכימה משלו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התוסף מותקן בסכימה נפרדת, ולכן אופרטור מרחבי חייב הסמכה מלאה. בלעדיה השאילתה נופלת עוד לפני שהיא מתחילה.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פונקציות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קיצורים לשאלות נפוצות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הפונקציות over_parcel_at(lat,lon) ו‑over_parcels_near() עונות על שאלה מרחבית נפוצה בשורה אחת.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נדל"ן לעם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מזהה אחד נכנס, כל השאר יוצא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ארבע שכבות נכס שאף אחת מהן אינה מדברת בשפה של השנייה, מוצלבות למפתח אחד.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2735" y="2304288"/>
            <a:ext cx="2395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92463" y="2304288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נקודה במפה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82735" y="3035808"/>
            <a:ext cx="2395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92463" y="3035808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כתובת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2735" y="3767328"/>
            <a:ext cx="2395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92463" y="3767328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מיקוד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2735" y="4498848"/>
            <a:ext cx="2395728" cy="56692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1F6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92463" y="4498848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גוש־חלקה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24167" y="3204972"/>
            <a:ext cx="1874519" cy="960120"/>
          </a:xfrm>
          <a:prstGeom prst="roundRect">
            <a:avLst>
              <a:gd name="adj" fmla="val 7000"/>
            </a:avLst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5607" y="3204972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המפתח המשותף
parcel_key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304288"/>
            <a:ext cx="5726887" cy="59436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395728"/>
            <a:ext cx="53611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החלקה והפוליגון שלה</a:t>
            </a:r>
          </a:p>
          <a:p>
            <a:pPr algn="r" rtl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גוש, תת־גוש, חלקה, שטח רשום וסטטוס הסדר — עם הצורה עצמה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026664"/>
            <a:ext cx="5726887" cy="59436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118104"/>
            <a:ext cx="53611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הכתובת והמיקוד</a:t>
            </a:r>
          </a:p>
          <a:p>
            <a:pPr algn="r" rtl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רחוב, מספר בית, מיקוד ברמת הכתובת או ברמת היישוב, ושכונה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49039"/>
            <a:ext cx="5726887" cy="59436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40479"/>
            <a:ext cx="53611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האזור הסטטיסטי</a:t>
            </a:r>
          </a:p>
          <a:p>
            <a:pPr algn="r" rtl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א"ס של הלמ"ס, אוכלוסייה, אשכול חברתי־כלכלי וייעוד עיקרי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471416"/>
            <a:ext cx="5726887" cy="59436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562856"/>
            <a:ext cx="536112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עסקאות המקרקעין</a:t>
            </a:r>
          </a:p>
          <a:p>
            <a:pPr algn="r" rtl="1">
              <a:lnSpc>
                <a:spcPct val="125000"/>
              </a:lnSpc>
              <a:spcBef>
                <a:spcPts val="200"/>
              </a:spcBef>
              <a:spcAft>
                <a:spcPts val="0"/>
              </a:spcAft>
            </a:pPr>
            <a:r>
              <a:rPr sz="10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העסקאות שנרשמו על אותה חלקה, עם סיכום ותאריך אחרון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303520"/>
            <a:ext cx="1076523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בסך הכול 1,097,775 חלקות, 638,615 כתובות, 65,795 רחובות ו‑14,627 מיקודים — מוצלבים זה לזה, לא מחוברים לפי שם.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נדל"ן לעם · מתחת למכסה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איך כתובת נקשרת לחלקה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הקישור אינו הנחה אלא חישוב: נקודת הכתובת נבדקת אל תוך פוליגון החלקה. מה שאין לו נקודה, אין לו קישור — וזה נאמר.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נקודה בתוך פוליגון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קישור שנבדק, לא שהונח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שיוך של 430,057 כתובות לחלקה, 67.3%, בחישוב הכלה ממשי. כ‑74.2% מהכתובות נושאות נקודה, והיתר מדווחות ככאלה.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C2410C"/>
                </a:solidFill>
                <a:latin typeface="Segoe UI"/>
                <a:cs typeface="Segoe UI"/>
                <a:ea typeface="Segoe UI"/>
              </a:rPr>
              <a:t>רשות האוכלוסין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קובץ הרחובות הרשמי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מרשם הרחובות הרשמי מונח מעל הניחוש ההיוריסטי, ולכן רחוב שקיים במרשם מזוהה גם כשאף מקור אחר לא מכיר אותו.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שבע שכבות עירוניות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כתובות שהרשות עצמה מפרסמת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שכבות כתובות של רשויות מקומיות נמזגות פנימה: 22,095 כתובות, ומתוכן 20,739 כאלה שלא היו במערכת כלל.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כיסוי, לא באג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מה שאין — נאמר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כ‑27,963 רחובות קיימים במרשם ואינם ממוקמים באף מקור מצטלב. המערכת מדווחת את הפער במספרים במקום להסתיר אותו.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עסקאות נדל"ן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מאגר העסקאות, פתוח לשאילתה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3,844,200 עסקאות מיסוי מקרקעין מ‑1998 ועד ספטמבר 2026 — לא כטופס חיפוש, אלא כטבלה שאפשר לחתוך לפי כל ממד.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C2410C"/>
                </a:solidFill>
                <a:latin typeface="Segoe UI"/>
                <a:cs typeface="Segoe UI"/>
                <a:ea typeface="Segoe UI"/>
              </a:rPr>
              <a:t>היקף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כל יישוב, כל סוג עסקה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העסקאות פרושות על 1,336 יישובים, 47 סוגי עסקה ו‑381,177 חלקות. כל עסקה נושאת שטח, חדרים, שנת בנייה, חלק נמכר וסוג נכס.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חיתוכים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סדרה, פילוח והשוואה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מחיר חציוני לאורך השנים, פילוח לפי סוג נכס, והשוואה בין יישובים — מעל המאגר המלא ולא מעל מדגם.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חיבור למפה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עסקאות על חלקה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העסקאות נקשרות לחלקה לפי גוש וחלקה, כך שכל חיפוש נכס מחזיר גם את ההיסטוריה שנרשמה עליו.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מלכודת שמדווחת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המאגר אינו מפרסם תת־גוש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הקישור הוא לפי גוש וחלקה בלבד, ולכן בחלקות שחולקות מספר ייתכן שאותה עסקה תוצג ביותר מחלקה אחת. זה כתוב בתשובה.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עסקאות נדל"ן · בדיקה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כשאותו נכס מסופר בשני מאגרים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שני מקורות ממשלתיים מתארים את אותן עסקאות. ההשוואה ביניהם היא בדיקה, לא סטטיסטיקה.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3046232"/>
            <a:ext cx="50292" cy="175564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23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6D28D9"/>
                </a:solidFill>
                <a:latin typeface="Segoe UI"/>
                <a:cs typeface="Segoe UI"/>
                <a:ea typeface="Segoe UI"/>
              </a:rPr>
              <a:t>פערים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מול מיסוי מקרקעין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דוח שמעמיד את מה שמוצג באתר עסקאות הנדל"ן מול מה שרשום במאגר מיסוי מקרקעין, שורה מול שורה.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308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48320" y="3046232"/>
            <a:ext cx="50292" cy="17556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253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0F766E"/>
                </a:solidFill>
                <a:latin typeface="Segoe UI"/>
                <a:cs typeface="Segoe UI"/>
                <a:ea typeface="Segoe UI"/>
              </a:rPr>
              <a:t>הממצא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חלון היסטוריה שמסתיר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מתוך 93 שורות שנבדקו עלו בפועל 145 מכירות: המקור מסתיר מכירות מוקדמות מאחורי חלון היסטוריה לכל שורה. 140 הותאמו.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009656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8470" y="3046232"/>
            <a:ext cx="50292" cy="175564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65104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A16207"/>
                </a:solidFill>
                <a:latin typeface="Segoe UI"/>
                <a:cs typeface="Segoe UI"/>
                <a:ea typeface="Segoe UI"/>
              </a:rPr>
              <a:t>שניים אוחזין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אותו דוח כחידון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אותם ממצאים בדיוק מוגשים גם כסבב שאלות, כדי שהפער יהיה מובן למי שלא יקרא דוח.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גישה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לשאול את המרחב — בממשק, ב‑SQL ובשפה חופשית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72932" y="2420051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28171" y="2456627"/>
            <a:ext cx="50292" cy="17556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2388" y="2575499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ממשק הנכסים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חיפוש לפי כל שדה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נקודה, כתובת, מיקוד או גוש־חלקה — ובכל מצב אפשר לבקש גם את הפוליגון עצמו, את האזור הסטטיסטי ואת העסקאות.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3082" y="2420051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48320" y="2456627"/>
            <a:ext cx="50292" cy="17556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2575499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שרת נכסים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שרת MCP לנכסים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שאלה על נכס בשפה חופשית מתוך Claude או כל לקוח MCP, ישירות מול אותו מנוע.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420051"/>
            <a:ext cx="3405530" cy="1828800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8470" y="2456627"/>
            <a:ext cx="50292" cy="17556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75499"/>
            <a:ext cx="296661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1D4ED8"/>
                </a:solidFill>
                <a:latin typeface="Segoe UI"/>
                <a:cs typeface="Segoe UI"/>
                <a:ea typeface="Segoe UI"/>
              </a:rPr>
              <a:t>שרת עסקאות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שרת MCP לעסקאות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שאלות על מאגר העסקאות בשפה חופשית, עם אותן אזהרות שמלוות את התשובה בממשק.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31731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כל תשובה נושאת את מגבלות הכיסוי שלה כשדה במבנה — לא כהערת שוליים בממשק, כדי שגם צרכן אוטומטי יראה אותן.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55503" y="457200"/>
            <a:ext cx="822960" cy="41148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220">
                <a:solidFill>
                  <a:srgbClr val="155066"/>
                </a:solidFill>
                <a:latin typeface="Segoe UI"/>
                <a:cs typeface="Segoe UI"/>
                <a:ea typeface="Segoe UI"/>
              </a:rPr>
              <a:t>מה שלא מתחבר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914400"/>
            <a:ext cx="1076523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המלכודות המרחביות, כתובות במקום שבו נתקלים בהן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0784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תשתית מרחבית שימושית היא זו שיודעת לומר מה אי אפשר לעשות איתה — לפני שמישהו מפרסם מפה שגויה.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28171" y="2531973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2463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היתרי בנייה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גוש וטווח חלקות, בלי צורה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מרשם ההיתרים של ירושלים נושא גוש וטווח חלקות ולא פוליגון, ולכן הוא מתחבר דרך החלקה ולא נצבע ישירות.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95397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8395" y="2531973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50845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מבא"ת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צורה, בלי מפתח קדסטרלי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מרשם התוכניות נושא שכבה מרחבית מדויקת בלי גוש־חלקה, ולכן החיבור אליו הוא מרחבי ולא לפי מזהה.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28171" y="4232757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463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כיסוי GovMap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רוב מספרי הבית חסרים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שיעור הפגיעה באינדקס הכתובות הוא 34.9%: מחוץ למרכז המטרופוליני רוב מספרי הבית פשוט אינם שם. זה כיסוי, ולא תקלה שצריך לתקן.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96181"/>
            <a:ext cx="5245455" cy="1481328"/>
          </a:xfrm>
          <a:prstGeom prst="roundRect">
            <a:avLst>
              <a:gd name="adj" fmla="val 7000"/>
            </a:avLst>
          </a:prstGeom>
          <a:solidFill>
            <a:srgbClr val="F6F7FB"/>
          </a:solidFill>
          <a:ln w="12700">
            <a:solidFill>
              <a:srgbClr val="DC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8395" y="4232757"/>
            <a:ext cx="50292" cy="1408176"/>
          </a:xfrm>
          <a:prstGeom prst="rect">
            <a:avLst/>
          </a:prstGeom>
          <a:solidFill>
            <a:srgbClr val="B42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351629"/>
            <a:ext cx="480654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spc="80">
                <a:solidFill>
                  <a:srgbClr val="B4232C"/>
                </a:solidFill>
                <a:latin typeface="Segoe UI"/>
                <a:cs typeface="Segoe UI"/>
                <a:ea typeface="Segoe UI"/>
              </a:rPr>
              <a:t>נקודות מול פוליגונים</a:t>
            </a:r>
          </a:p>
          <a:p>
            <a:pPr algn="r" rtl="1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1B33"/>
                </a:solidFill>
                <a:latin typeface="Segoe UI"/>
                <a:cs typeface="Segoe UI"/>
                <a:ea typeface="Segoe UI"/>
              </a:rPr>
              <a:t>מה מצטלב עם מה</a:t>
            </a:r>
          </a:p>
          <a:p>
            <a:pPr algn="r" rtl="1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A4A66"/>
                </a:solidFill>
                <a:latin typeface="Segoe UI"/>
                <a:cs typeface="Segoe UI"/>
                <a:ea typeface="Segoe UI"/>
              </a:rPr>
              <a:t>חיתוך שכבת נקודות מול שכבת פוליגונים ושכבת פוליגונים מול עצמה אינם אותה שאלה, והתשובה הנכונה תלויה בכך.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over.org.il  ·  גרסאות לעם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29107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891"/>
                </a:solidFill>
                <a:latin typeface="Segoe UI"/>
                <a:cs typeface="Segoe UI"/>
                <a:ea typeface="Segoe U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55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4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לסיכום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28800"/>
            <a:ext cx="1076523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מפה אחת לכל מה שהמדינה מפרסמת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8612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DCE9F2"/>
                </a:solidFill>
                <a:latin typeface="Segoe UI"/>
                <a:cs typeface="Segoe UI"/>
                <a:ea typeface="Segoe UI"/>
              </a:rPr>
              <a:t>כל שכבה נשמרת בכל גרסה, כל מאגר מקבל מפה, כל טבלה עם מקום מקבלת גאומטריה, וכל נכס אפשר לשאול עליו בארבע דרכים ולקבל את אותה תשובה — כולל מה שחסר בה.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7055" y="4572000"/>
            <a:ext cx="2121408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4572000"/>
            <a:ext cx="21214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כ‑950 מאגרים מרחביים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3643" y="4572000"/>
            <a:ext cx="2025395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3643" y="4572000"/>
            <a:ext cx="2025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מנוע PostGIS ציבורי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2315" y="4572000"/>
            <a:ext cx="1353312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2315" y="4572000"/>
            <a:ext cx="13533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כ‑1.1M חלקות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4975" y="4572000"/>
            <a:ext cx="1449324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4975" y="4572000"/>
            <a:ext cx="14493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כ‑3.8M עסקאות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5671" y="4572000"/>
            <a:ext cx="1161288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5671" y="4572000"/>
            <a:ext cx="11612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כ‑925 מפות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" y="4572000"/>
            <a:ext cx="1833372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283" y="4572000"/>
            <a:ext cx="18333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סימבולוגיה מקורית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33127" y="5102352"/>
            <a:ext cx="1545336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3127" y="5102352"/>
            <a:ext cx="15453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שרת MCP לנכסים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9715" y="5102352"/>
            <a:ext cx="2025395" cy="384048"/>
          </a:xfrm>
          <a:prstGeom prst="roundRect">
            <a:avLst>
              <a:gd name="adj" fmla="val 7000"/>
            </a:avLst>
          </a:prstGeom>
          <a:solidFill>
            <a:srgbClr val="2A6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9715" y="5102352"/>
            <a:ext cx="202539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cs typeface="Segoe UI"/>
                <a:ea typeface="Segoe UI"/>
              </a:rPr>
              <a:t>שכבה לפי תיבה תוחמת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035040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40">
                <a:solidFill>
                  <a:srgbClr val="8FD4E6"/>
                </a:solidFill>
                <a:latin typeface="Segoe UI"/>
                <a:cs typeface="Segoe UI"/>
                <a:ea typeface="Segoe UI"/>
              </a:rPr>
              <a:t>over.org.il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